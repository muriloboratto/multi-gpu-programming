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21" r:id="rId2"/>
    <p:sldId id="605" r:id="rId3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08"/>
    <p:restoredTop sz="96921"/>
  </p:normalViewPr>
  <p:slideViewPr>
    <p:cSldViewPr>
      <p:cViewPr varScale="1">
        <p:scale>
          <a:sx n="127" d="100"/>
          <a:sy n="127" d="100"/>
        </p:scale>
        <p:origin x="728" y="19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3A9B1-2EBC-8E41-B6C4-CAB5C5993647}" type="datetimeFigureOut">
              <a:rPr lang="pt-BR" smtClean="0"/>
              <a:t>08/12/2025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E4F90-B167-7C49-AAEC-0A6361E713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77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pt-BR" dirty="0"/>
              <a:t>Pesquisa foi realizada ano passado a partir de dados públicos, onde a finalidade era caracterizar os centros </a:t>
            </a:r>
            <a:r>
              <a:rPr lang="pt-BR" dirty="0" err="1"/>
              <a:t>supercomputacionais</a:t>
            </a:r>
            <a:r>
              <a:rPr lang="pt-BR" dirty="0"/>
              <a:t> brasileiros (Acadêmicos e Empresas). </a:t>
            </a:r>
          </a:p>
          <a:p>
            <a:pPr marL="171450" indent="-171450">
              <a:buFontTx/>
              <a:buChar char="-"/>
            </a:pPr>
            <a:endParaRPr lang="pt-BR" dirty="0"/>
          </a:p>
          <a:p>
            <a:pPr marL="171450" indent="-171450">
              <a:buFontTx/>
              <a:buChar char="-"/>
            </a:pPr>
            <a:r>
              <a:rPr lang="pt-BR" dirty="0"/>
              <a:t>E hoje 1 ano depois está leitura já esta um pouco desatualizada, devido a rapidez das tecnologias.</a:t>
            </a:r>
          </a:p>
          <a:p>
            <a:pPr marL="171450" indent="-171450">
              <a:buFontTx/>
              <a:buChar char="-"/>
            </a:pPr>
            <a:endParaRPr lang="pt-BR" dirty="0"/>
          </a:p>
          <a:p>
            <a:pPr marL="171450" indent="-171450">
              <a:buFontTx/>
              <a:buChar char="-"/>
            </a:pPr>
            <a:r>
              <a:rPr lang="pt-BR" dirty="0"/>
              <a:t>E essa caracterização serve para entender como nós pesquisadores conseguimos projetar/desenhar os nossos recursos computacionais a partir de  fomentos.  </a:t>
            </a:r>
          </a:p>
          <a:p>
            <a:pPr marL="628650" lvl="1" indent="-171450">
              <a:buFontTx/>
              <a:buChar char="-"/>
            </a:pPr>
            <a:r>
              <a:rPr lang="pt-BR" dirty="0"/>
              <a:t>  Sou um pesquisador e recebo um fomento CAPES/CNPq/</a:t>
            </a:r>
            <a:r>
              <a:rPr lang="pt-BR" dirty="0" err="1"/>
              <a:t>Orgão</a:t>
            </a:r>
            <a:r>
              <a:rPr lang="pt-BR" dirty="0"/>
              <a:t> Estadual ... E a primeira pergunta seria: como projetar esse ambiente?</a:t>
            </a:r>
          </a:p>
          <a:p>
            <a:pPr marL="628650" lvl="1" indent="-171450">
              <a:buFontTx/>
              <a:buChar char="-"/>
            </a:pPr>
            <a:endParaRPr lang="pt-BR" dirty="0"/>
          </a:p>
          <a:p>
            <a:pPr marL="171450" lvl="0" indent="-171450">
              <a:buFontTx/>
              <a:buChar char="-"/>
            </a:pPr>
            <a:r>
              <a:rPr lang="pt-BR" dirty="0"/>
              <a:t>Essa apresentação ajudará a entender como os maiores centros fazem e como nós pesquisadores devemos seguir.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6FF176-FE9B-4487-9E2B-7DA6FFA473F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164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1114" y="305815"/>
            <a:ext cx="11529771" cy="559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006FC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006FC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006FC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DEA8-FDD0-47AB-9B1E-6412E7EC60D7}" type="datetime1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1CA95-E0BC-48B5-948A-ECC494EB4D8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6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9"/>
          </a:xfr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2704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8" y="7618"/>
            <a:ext cx="12175235" cy="685037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1284" y="2014474"/>
            <a:ext cx="11549430" cy="1184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006FC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1289" y="1306829"/>
            <a:ext cx="11469420" cy="406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78FEF-D983-1550-9795-C907EEFB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9E7973E8-6ED5-5755-80A6-910193C25D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183"/>
            <a:ext cx="12205182" cy="6865415"/>
          </a:xfrm>
          <a:prstGeom prst="rect">
            <a:avLst/>
          </a:prstGeom>
        </p:spPr>
      </p:pic>
      <p:sp>
        <p:nvSpPr>
          <p:cNvPr id="4" name="Rectangle 10">
            <a:extLst>
              <a:ext uri="{FF2B5EF4-FFF2-40B4-BE49-F238E27FC236}">
                <a16:creationId xmlns:a16="http://schemas.microsoft.com/office/drawing/2014/main" id="{E952B6F9-DA9E-8A92-0C57-AC362FAF1105}"/>
              </a:ext>
            </a:extLst>
          </p:cNvPr>
          <p:cNvSpPr/>
          <p:nvPr/>
        </p:nvSpPr>
        <p:spPr>
          <a:xfrm>
            <a:off x="-1362" y="3"/>
            <a:ext cx="12193361" cy="6857998"/>
          </a:xfrm>
          <a:prstGeom prst="rect">
            <a:avLst/>
          </a:prstGeom>
          <a:solidFill>
            <a:srgbClr val="00082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8D4F3AF-B289-E8C5-C648-D530ABD46498}"/>
              </a:ext>
            </a:extLst>
          </p:cNvPr>
          <p:cNvSpPr txBox="1"/>
          <p:nvPr/>
        </p:nvSpPr>
        <p:spPr>
          <a:xfrm>
            <a:off x="3362912" y="4495800"/>
            <a:ext cx="4449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Montserrat SemiBold" panose="00000700000000000000" pitchFamily="50" charset="0"/>
                <a:cs typeface="Poppins SemiBold" panose="00000700000000000000" pitchFamily="2" charset="0"/>
              </a:rPr>
              <a:t>Escola de Verão LNCC 2026 – SD03-II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781909-1735-D969-5894-BCE0DF676C3A}"/>
              </a:ext>
            </a:extLst>
          </p:cNvPr>
          <p:cNvSpPr txBox="1"/>
          <p:nvPr/>
        </p:nvSpPr>
        <p:spPr>
          <a:xfrm>
            <a:off x="107966" y="2362200"/>
            <a:ext cx="8807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solidFill>
                  <a:schemeClr val="bg1"/>
                </a:solidFill>
                <a:latin typeface="Montserrat SemiBold" panose="00000700000000000000" pitchFamily="50" charset="0"/>
                <a:cs typeface="Poppins SemiBold" panose="00000700000000000000" pitchFamily="2" charset="0"/>
              </a:rPr>
              <a:t>Introdução ao </a:t>
            </a:r>
            <a:r>
              <a:rPr lang="pt-BR" sz="4800" dirty="0" err="1">
                <a:solidFill>
                  <a:schemeClr val="bg1"/>
                </a:solidFill>
                <a:latin typeface="Montserrat SemiBold" panose="00000700000000000000" pitchFamily="50" charset="0"/>
                <a:cs typeface="Poppins SemiBold" panose="00000700000000000000" pitchFamily="2" charset="0"/>
              </a:rPr>
              <a:t>Cuda-ware</a:t>
            </a:r>
            <a:endParaRPr lang="pt-BR" sz="4800" dirty="0">
              <a:solidFill>
                <a:schemeClr val="bg1"/>
              </a:solidFill>
              <a:latin typeface="Montserrat ExtraBold" panose="00000900000000000000" pitchFamily="50" charset="0"/>
              <a:cs typeface="Poppins SemiBold" panose="00000700000000000000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701E8DE-ED7D-D991-54AC-517C60D0D17D}"/>
              </a:ext>
            </a:extLst>
          </p:cNvPr>
          <p:cNvSpPr txBox="1"/>
          <p:nvPr/>
        </p:nvSpPr>
        <p:spPr>
          <a:xfrm>
            <a:off x="375978" y="4542507"/>
            <a:ext cx="30831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Montserrat SemiBold" panose="00000700000000000000" pitchFamily="50" charset="0"/>
                <a:cs typeface="Poppins SemiBold" panose="00000700000000000000" pitchFamily="2" charset="0"/>
              </a:rPr>
              <a:t>02</a:t>
            </a:r>
            <a:r>
              <a:rPr lang="pt-BR" sz="2300" dirty="0">
                <a:solidFill>
                  <a:schemeClr val="bg1"/>
                </a:solidFill>
                <a:latin typeface="Montserrat SemiBold" panose="00000700000000000000" pitchFamily="50" charset="0"/>
                <a:cs typeface="Poppins SemiBold" panose="00000700000000000000" pitchFamily="2" charset="0"/>
              </a:rPr>
              <a:t> DE </a:t>
            </a:r>
            <a:r>
              <a:rPr lang="pt-BR" sz="2300" dirty="0">
                <a:solidFill>
                  <a:schemeClr val="bg1"/>
                </a:solidFill>
                <a:latin typeface="Montserrat ExtraBold" panose="00000900000000000000" pitchFamily="50" charset="0"/>
                <a:cs typeface="Poppins SemiBold" panose="00000700000000000000" pitchFamily="2" charset="0"/>
              </a:rPr>
              <a:t>FEVEREIRO</a:t>
            </a:r>
          </a:p>
          <a:p>
            <a:r>
              <a:rPr lang="pt-BR" sz="3200" dirty="0">
                <a:solidFill>
                  <a:schemeClr val="bg1"/>
                </a:solidFill>
                <a:latin typeface="Montserrat ExtraBold" panose="00000900000000000000" pitchFamily="50" charset="0"/>
                <a:cs typeface="Poppins SemiBold" panose="00000700000000000000" pitchFamily="2" charset="0"/>
              </a:rPr>
              <a:t>14H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28556A8-58E2-440D-109A-F97A4A8B1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661" y="1114295"/>
            <a:ext cx="1158144" cy="316966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A8A3CAFC-7F41-C489-8F1B-D9CAFE0A055D}"/>
              </a:ext>
            </a:extLst>
          </p:cNvPr>
          <p:cNvSpPr txBox="1"/>
          <p:nvPr/>
        </p:nvSpPr>
        <p:spPr>
          <a:xfrm>
            <a:off x="2068974" y="1049640"/>
            <a:ext cx="269913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300" dirty="0">
                <a:solidFill>
                  <a:schemeClr val="bg1"/>
                </a:solidFill>
                <a:latin typeface="Montserrat SemiBold" panose="00000700000000000000" pitchFamily="50" charset="0"/>
                <a:cs typeface="Poppins SemiBold" panose="00000700000000000000" pitchFamily="2" charset="0"/>
              </a:rPr>
              <a:t>Murilo Boratto</a:t>
            </a:r>
            <a:endParaRPr lang="pt-BR" sz="3200" dirty="0">
              <a:solidFill>
                <a:schemeClr val="bg1"/>
              </a:solidFill>
              <a:latin typeface="Montserrat ExtraBold" panose="00000900000000000000" pitchFamily="50" charset="0"/>
              <a:cs typeface="Poppins SemiBold" panose="00000700000000000000" pitchFamily="2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ECAB855-D446-BC92-414B-D992BDFFE0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288" y="2249805"/>
            <a:ext cx="4449712" cy="460819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C75A6FB-4205-9104-1335-05EED86B431C}"/>
              </a:ext>
            </a:extLst>
          </p:cNvPr>
          <p:cNvSpPr txBox="1"/>
          <p:nvPr/>
        </p:nvSpPr>
        <p:spPr>
          <a:xfrm>
            <a:off x="-29889" y="3209035"/>
            <a:ext cx="8807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Montserrat SemiBold" panose="00000700000000000000" pitchFamily="50" charset="0"/>
                <a:cs typeface="Poppins SemiBold" panose="00000700000000000000" pitchFamily="2" charset="0"/>
              </a:rPr>
              <a:t>Teoria e Conceitos sobre Sistemas </a:t>
            </a:r>
            <a:r>
              <a:rPr lang="pt-BR" sz="2400" dirty="0" err="1">
                <a:solidFill>
                  <a:schemeClr val="bg1"/>
                </a:solidFill>
                <a:latin typeface="Montserrat SemiBold" panose="00000700000000000000" pitchFamily="50" charset="0"/>
                <a:cs typeface="Poppins SemiBold" panose="00000700000000000000" pitchFamily="2" charset="0"/>
              </a:rPr>
              <a:t>Multi-GPU</a:t>
            </a:r>
            <a:endParaRPr lang="pt-BR" sz="2400" dirty="0">
              <a:solidFill>
                <a:schemeClr val="bg1"/>
              </a:solidFill>
              <a:latin typeface="Montserrat ExtraBold" panose="00000900000000000000" pitchFamily="50" charset="0"/>
              <a:cs typeface="Poppins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214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3843"/>
            <a:ext cx="11549430" cy="584775"/>
          </a:xfrm>
        </p:spPr>
        <p:txBody>
          <a:bodyPr/>
          <a:lstStyle/>
          <a:p>
            <a:r>
              <a:rPr lang="en-US" dirty="0" err="1"/>
              <a:t>Conteúdo</a:t>
            </a:r>
            <a:r>
              <a:rPr lang="en-US" dirty="0"/>
              <a:t> e Material do </a:t>
            </a:r>
            <a:r>
              <a:rPr lang="en-US" dirty="0" err="1"/>
              <a:t>Minicurso</a:t>
            </a:r>
            <a:endParaRPr lang="en-US" dirty="0"/>
          </a:p>
        </p:txBody>
      </p:sp>
      <p:sp>
        <p:nvSpPr>
          <p:cNvPr id="3" name="직사각형 113">
            <a:extLst>
              <a:ext uri="{FF2B5EF4-FFF2-40B4-BE49-F238E27FC236}">
                <a16:creationId xmlns:a16="http://schemas.microsoft.com/office/drawing/2014/main" id="{767E1F66-05BC-072A-ACF0-B16B08CB6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030" y="1143000"/>
            <a:ext cx="11430000" cy="6617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Conceitos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 de HPC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Conceitos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 e </a:t>
            </a:r>
            <a:r>
              <a:rPr lang="en-US" altLang="ko-KR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Modelos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 de </a:t>
            </a:r>
            <a:r>
              <a:rPr lang="en-US" altLang="ko-KR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Programação</a:t>
            </a: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 Multi-GPU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Arial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CUDA-aware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Arial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NCCL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Arial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charset="0"/>
              </a:rPr>
              <a:t>NVSHMEM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Arial" charset="0"/>
            </a:endParaRPr>
          </a:p>
          <a:p>
            <a:pPr algn="ctr"/>
            <a:r>
              <a:rPr lang="en-US" altLang="ko-KR" sz="3200" b="1" dirty="0">
                <a:solidFill>
                  <a:srgbClr val="FF0000"/>
                </a:solidFill>
                <a:highlight>
                  <a:srgbClr val="FFFF00"/>
                </a:highlight>
                <a:cs typeface="Arial" charset="0"/>
              </a:rPr>
              <a:t>https://</a:t>
            </a:r>
            <a:r>
              <a:rPr lang="en-US" altLang="ko-KR" sz="3200" b="1" dirty="0" err="1">
                <a:solidFill>
                  <a:srgbClr val="FF0000"/>
                </a:solidFill>
                <a:highlight>
                  <a:srgbClr val="FFFF00"/>
                </a:highlight>
                <a:cs typeface="Arial" charset="0"/>
              </a:rPr>
              <a:t>github.com</a:t>
            </a:r>
            <a:r>
              <a:rPr lang="en-US" altLang="ko-KR" sz="3200" b="1" dirty="0">
                <a:solidFill>
                  <a:srgbClr val="FF0000"/>
                </a:solidFill>
                <a:highlight>
                  <a:srgbClr val="FFFF00"/>
                </a:highlight>
                <a:cs typeface="Arial" charset="0"/>
              </a:rPr>
              <a:t>/</a:t>
            </a:r>
            <a:r>
              <a:rPr lang="en-US" altLang="ko-KR" sz="3200" b="1" dirty="0" err="1">
                <a:solidFill>
                  <a:srgbClr val="FF0000"/>
                </a:solidFill>
                <a:highlight>
                  <a:srgbClr val="FFFF00"/>
                </a:highlight>
                <a:cs typeface="Arial" charset="0"/>
              </a:rPr>
              <a:t>muriloboratto</a:t>
            </a:r>
            <a:r>
              <a:rPr lang="en-US" altLang="ko-KR" sz="3200" b="1" dirty="0">
                <a:solidFill>
                  <a:srgbClr val="FF0000"/>
                </a:solidFill>
                <a:highlight>
                  <a:srgbClr val="FFFF00"/>
                </a:highlight>
                <a:cs typeface="Arial" charset="0"/>
              </a:rPr>
              <a:t>/GPU-programming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3200" b="1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cs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b="1" dirty="0">
              <a:solidFill>
                <a:schemeClr val="tx1">
                  <a:lumMod val="75000"/>
                  <a:lumOff val="25000"/>
                </a:schemeClr>
              </a:solidFill>
              <a:cs typeface="Arial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ko-KR" alt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2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4938</TotalTime>
  <Words>159</Words>
  <Application>Microsoft Macintosh PowerPoint</Application>
  <PresentationFormat>Widescreen</PresentationFormat>
  <Paragraphs>32</Paragraphs>
  <Slides>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Carlito</vt:lpstr>
      <vt:lpstr>Montserrat ExtraBold</vt:lpstr>
      <vt:lpstr>Montserrat SemiBold</vt:lpstr>
      <vt:lpstr>Office Theme</vt:lpstr>
      <vt:lpstr>Apresentação do PowerPoint</vt:lpstr>
      <vt:lpstr>Conteúdo e Material do Minicurso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Prova de Conceito Banco BV (PoC-BV)</dc:title>
  <cp:lastModifiedBy>Murilo do Carmo Boratto</cp:lastModifiedBy>
  <cp:revision>174</cp:revision>
  <dcterms:created xsi:type="dcterms:W3CDTF">2023-11-01T19:59:25Z</dcterms:created>
  <dcterms:modified xsi:type="dcterms:W3CDTF">2025-12-08T17:19:40Z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2023-11-01T00:00:00Z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2023-11-01T00:00:00Z</vt:filetime>
  </property>
</Properties>
</file>